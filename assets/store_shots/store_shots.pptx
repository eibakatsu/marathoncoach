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33"/>
    <p:restoredTop sz="94687"/>
  </p:normalViewPr>
  <p:slideViewPr>
    <p:cSldViewPr snapToGrid="0">
      <p:cViewPr>
        <p:scale>
          <a:sx n="83" d="100"/>
          <a:sy n="83" d="100"/>
        </p:scale>
        <p:origin x="1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ADFD6-2722-700B-9378-592515167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D58B639-4DB5-4C34-A0D2-E2F354F6C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F87889-CADD-011B-C242-F6E65B82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3CC548-D724-D38F-D94D-49DBA1A00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504925-64E4-9269-F353-4B07F121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089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4DB74-61EF-4E79-0BB0-8C9FA1B00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7E1806-EECF-4E33-758F-9359AEE15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4FD8B-DB15-412E-5729-29002656B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4F8BE0-C11F-0877-AFC7-07F5FFC9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892577-95EB-2028-E043-A2FA9026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29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1CC77A-632C-4ECE-4F6A-FCB95D4B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76B225-F9BB-5442-2AB1-7DF588A3F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75E34E-8743-1321-2AA9-9E1AE22A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BDC030-2AA2-8A40-FCDB-AF62C1E3E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B737F1-5273-3AEE-9303-6DD4CD70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52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7E86C-1283-D8EF-C918-98D84378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4DD4EA-3362-3B43-83BB-575C6DF42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5BA964-24DB-71B6-6FFC-724592385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6C40A6-F6DD-393D-95A8-4B740152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6E3900-3523-7E98-65DC-2FF76E4C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B8EE88-D4DA-06FE-F4DF-E612EBC3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67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1F750A-04EA-8881-F936-F2BF56AB7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55A856-2246-006A-3B2B-7D6A9C1F7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C1F564-8EC3-BEEC-6E0E-625804A14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238A9B-21D2-47DF-5F88-1737EAB58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71DD36-DB12-5BCD-2145-6972C754B2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182B35-EE38-1D08-68EF-DA351C34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B7DEBB-61C6-9745-AFBD-51393BD34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B443A4-4F0E-6266-AF53-E4E3ACBD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301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DCE134-C17A-04A0-DC71-BD9C3B8E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51FEC5-C057-3390-538F-2FB5CCB2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BDB2E7-7E96-F42D-DB32-4BCAA3FE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CD81BCC-68EE-1239-77C2-AC8638D0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58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454FD5-68F6-EB20-62F4-63E60AED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403D5E3-03C3-E348-B09D-01EC9DC2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E51AAD-F240-BABB-6BB5-15225F54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759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2B10AF-5234-71A2-323B-4543ACEF5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318634-DF2E-81E0-FD82-C9610BA59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BEE3E22-219E-B39F-A80F-627BF8F66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4DFAD0-48C8-7EA3-387D-6B23E348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4AE8BC-C0EB-3D4B-14C6-A1C37029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1F76EB-5FED-42D9-E286-E640B07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439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752A0B-1FE0-7364-48EE-C7A44A754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A554A1C-89E6-512D-2C2C-05B9E9CA1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D63986-8083-8A9A-025D-4740C7619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EBC195-2B74-F94D-666D-F2C782F8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6500FB-0BB6-7D42-AADA-7D8D6365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9A2433-057F-CD00-E7A1-FF0B1D2A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8FE332-0AFD-43FF-648A-EBAD68B6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778B01-D2F5-3851-F931-64B8D2B5A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34DBA3-7343-2679-A4C6-372050E5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994B1E-8670-4531-12AD-FBE95891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48CE66-0028-ABFE-9762-81655178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337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766C89-B6D4-B2F2-58F0-CD266B76FF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0FD29E-51A8-155D-2D4F-FAB5B0500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190BC3-26E4-B6DD-515E-3640DCB4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097965-EDC0-FF5D-0BC3-61EF1EA6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E1F599-8088-D45F-5690-807EE310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895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1456B0-73DD-A61E-B067-D8011D20C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D0E2C7-EF44-D7E5-C219-CA206BD9E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2DE349-6BC6-13F3-3A6C-C360BC7F2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B000A-6D8F-3647-AF13-3694151F8848}" type="datetimeFigureOut">
              <a:rPr kumimoji="1" lang="ja-JP" altLang="en-US" smtClean="0"/>
              <a:t>2026/3/13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3F3674-DA34-F893-63D6-61E17BB30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2B0A85-FD5E-515C-86E3-8132B5707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78891-1186-A449-967D-2B5DBA942C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55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C8A7975-C83B-706C-BFF0-65B1246D7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9" y="0"/>
            <a:ext cx="5743241" cy="685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6F133CB-27C2-B744-1709-D183A6C21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5743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01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2782-0D9E-1EB6-E47E-13C64268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A2844B5-CF84-48C1-F297-E075D566C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380" y="0"/>
            <a:ext cx="5743241" cy="6858000"/>
          </a:xfrm>
          <a:prstGeom prst="rect">
            <a:avLst/>
          </a:prstGeom>
        </p:spPr>
      </p:pic>
      <p:sp>
        <p:nvSpPr>
          <p:cNvPr id="2" name="角丸四角形 1">
            <a:extLst>
              <a:ext uri="{FF2B5EF4-FFF2-40B4-BE49-F238E27FC236}">
                <a16:creationId xmlns:a16="http://schemas.microsoft.com/office/drawing/2014/main" id="{2BBE57D8-A072-210F-526F-3B39B8BC1D8F}"/>
              </a:ext>
            </a:extLst>
          </p:cNvPr>
          <p:cNvSpPr/>
          <p:nvPr/>
        </p:nvSpPr>
        <p:spPr>
          <a:xfrm>
            <a:off x="3360000" y="192507"/>
            <a:ext cx="5472000" cy="117909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ja-JP" altLang="en-US" sz="2800" b="1">
                <a:latin typeface="Meiryo UI" panose="020B0604030504040204" pitchFamily="34" charset="-128"/>
                <a:ea typeface="Meiryo UI" panose="020B0604030504040204" pitchFamily="34" charset="-128"/>
              </a:rPr>
              <a:t>迷いを減らし、目標達成へ</a:t>
            </a:r>
            <a:endParaRPr lang="en-US" altLang="ja-JP" sz="20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Reduce race-time doubt. Reach your goal.</a:t>
            </a:r>
            <a:endParaRPr kumimoji="1" lang="ja-JP" altLang="en-US" sz="2000">
              <a:solidFill>
                <a:schemeClr val="bg1">
                  <a:lumMod val="8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550842AF-43DF-86FE-FF50-8199282C7089}"/>
              </a:ext>
            </a:extLst>
          </p:cNvPr>
          <p:cNvSpPr/>
          <p:nvPr/>
        </p:nvSpPr>
        <p:spPr>
          <a:xfrm>
            <a:off x="3360000" y="5534528"/>
            <a:ext cx="5472000" cy="117909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2800" b="1">
                <a:latin typeface="Meiryo UI" panose="020B0604030504040204" pitchFamily="34" charset="-128"/>
                <a:ea typeface="Meiryo UI" panose="020B0604030504040204" pitchFamily="34" charset="-128"/>
              </a:rPr>
              <a:t>次にやることを短く表示</a:t>
            </a:r>
            <a:endParaRPr lang="en-US" altLang="ja-JP" sz="20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Clear next-action cues while running.</a:t>
            </a:r>
            <a:endParaRPr kumimoji="1" lang="ja-JP" altLang="en-US" sz="2000">
              <a:solidFill>
                <a:schemeClr val="bg1">
                  <a:lumMod val="8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1" name="グラフィックス 10" descr="矢印: 直線 単色塗りつぶし">
            <a:extLst>
              <a:ext uri="{FF2B5EF4-FFF2-40B4-BE49-F238E27FC236}">
                <a16:creationId xmlns:a16="http://schemas.microsoft.com/office/drawing/2014/main" id="{EBFF0E08-C20D-121F-4003-9867168FA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247449">
            <a:off x="4026569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8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C8BC-CD45-5488-9A8E-C92B741C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76B8C07-92E6-DF2A-03E4-B2C294D10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380" y="0"/>
            <a:ext cx="5743241" cy="6858000"/>
          </a:xfrm>
          <a:prstGeom prst="rect">
            <a:avLst/>
          </a:prstGeom>
        </p:spPr>
      </p:pic>
      <p:sp>
        <p:nvSpPr>
          <p:cNvPr id="2" name="角丸四角形 1">
            <a:extLst>
              <a:ext uri="{FF2B5EF4-FFF2-40B4-BE49-F238E27FC236}">
                <a16:creationId xmlns:a16="http://schemas.microsoft.com/office/drawing/2014/main" id="{34EC9CFF-B5C5-4636-C224-DC4B264DD735}"/>
              </a:ext>
            </a:extLst>
          </p:cNvPr>
          <p:cNvSpPr/>
          <p:nvPr/>
        </p:nvSpPr>
        <p:spPr>
          <a:xfrm>
            <a:off x="3360000" y="192507"/>
            <a:ext cx="5472000" cy="117909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Pace,</a:t>
            </a:r>
            <a:r>
              <a:rPr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HR, and </a:t>
            </a:r>
            <a:r>
              <a:rPr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predicted time.</a:t>
            </a:r>
            <a:endParaRPr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lang="ja-JP" altLang="en-US" sz="200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ペース・心拍・予測タイムを１画面で</a:t>
            </a:r>
            <a:endParaRPr kumimoji="1" lang="ja-JP" altLang="en-US" sz="2000">
              <a:solidFill>
                <a:schemeClr val="bg1">
                  <a:lumMod val="8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FAF93FD-94DE-5352-1E81-6693C05FA343}"/>
              </a:ext>
            </a:extLst>
          </p:cNvPr>
          <p:cNvSpPr/>
          <p:nvPr/>
        </p:nvSpPr>
        <p:spPr>
          <a:xfrm>
            <a:off x="3360000" y="5534528"/>
            <a:ext cx="5472000" cy="117909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Focus on running, not calculation</a:t>
            </a:r>
            <a:endParaRPr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lang="ja-JP" altLang="en-US" sz="200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判断に迷わず、走りに集中</a:t>
            </a:r>
            <a:endParaRPr kumimoji="1" lang="ja-JP" altLang="en-US" sz="2000">
              <a:solidFill>
                <a:schemeClr val="bg1">
                  <a:lumMod val="8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グラフィックス 4" descr="矢印: 直線 単色塗りつぶし">
            <a:extLst>
              <a:ext uri="{FF2B5EF4-FFF2-40B4-BE49-F238E27FC236}">
                <a16:creationId xmlns:a16="http://schemas.microsoft.com/office/drawing/2014/main" id="{B753845F-AC98-6BB0-46B5-09FF1B5D67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247449">
            <a:off x="4195011" y="1932214"/>
            <a:ext cx="914400" cy="914400"/>
          </a:xfrm>
          <a:prstGeom prst="rect">
            <a:avLst/>
          </a:prstGeom>
        </p:spPr>
      </p:pic>
      <p:pic>
        <p:nvPicPr>
          <p:cNvPr id="6" name="グラフィックス 5" descr="矢印: 直線 単色塗りつぶし">
            <a:extLst>
              <a:ext uri="{FF2B5EF4-FFF2-40B4-BE49-F238E27FC236}">
                <a16:creationId xmlns:a16="http://schemas.microsoft.com/office/drawing/2014/main" id="{A3716D6F-3543-ABD5-043C-5654B7D657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352551" flipH="1">
            <a:off x="7178845" y="3414679"/>
            <a:ext cx="914400" cy="914400"/>
          </a:xfrm>
          <a:prstGeom prst="rect">
            <a:avLst/>
          </a:prstGeom>
        </p:spPr>
      </p:pic>
      <p:pic>
        <p:nvPicPr>
          <p:cNvPr id="8" name="グラフィックス 7" descr="矢印: 直線 単色塗りつぶし">
            <a:extLst>
              <a:ext uri="{FF2B5EF4-FFF2-40B4-BE49-F238E27FC236}">
                <a16:creationId xmlns:a16="http://schemas.microsoft.com/office/drawing/2014/main" id="{F8D13FBB-68D6-0C92-F7CE-384BEA8CB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334520" y="48366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6A4D3-95ED-DC5A-0BC7-60140733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2D12611-0A45-4A74-FB45-8AA45D54F052}"/>
              </a:ext>
            </a:extLst>
          </p:cNvPr>
          <p:cNvSpPr/>
          <p:nvPr/>
        </p:nvSpPr>
        <p:spPr>
          <a:xfrm>
            <a:off x="3224378" y="28076"/>
            <a:ext cx="574324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C9BD738-B590-6389-1CB5-F95243B80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381" y="260006"/>
            <a:ext cx="3449872" cy="4119489"/>
          </a:xfrm>
          <a:prstGeom prst="rect">
            <a:avLst/>
          </a:prstGeom>
        </p:spPr>
      </p:pic>
      <p:sp>
        <p:nvSpPr>
          <p:cNvPr id="10" name="円/楕円 9">
            <a:extLst>
              <a:ext uri="{FF2B5EF4-FFF2-40B4-BE49-F238E27FC236}">
                <a16:creationId xmlns:a16="http://schemas.microsoft.com/office/drawing/2014/main" id="{80DD2658-41FA-EBD6-E9D8-8255AC1DC0A7}"/>
              </a:ext>
            </a:extLst>
          </p:cNvPr>
          <p:cNvSpPr/>
          <p:nvPr/>
        </p:nvSpPr>
        <p:spPr>
          <a:xfrm>
            <a:off x="5510464" y="2181722"/>
            <a:ext cx="3449872" cy="4190142"/>
          </a:xfrm>
          <a:prstGeom prst="ellipse">
            <a:avLst/>
          </a:prstGeom>
          <a:solidFill>
            <a:schemeClr val="bg1">
              <a:lumMod val="75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20831B68-06F7-2CAF-0249-1700ADF0DEF7}"/>
              </a:ext>
            </a:extLst>
          </p:cNvPr>
          <p:cNvSpPr/>
          <p:nvPr/>
        </p:nvSpPr>
        <p:spPr>
          <a:xfrm>
            <a:off x="3360000" y="192507"/>
            <a:ext cx="5472000" cy="117909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Fuel timing made visible.</a:t>
            </a:r>
            <a:endParaRPr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lang="ja-JP" altLang="en-US" sz="200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補給タイミングをみえる化</a:t>
            </a:r>
            <a:endParaRPr kumimoji="1" lang="ja-JP" altLang="en-US" sz="2000">
              <a:solidFill>
                <a:schemeClr val="bg1">
                  <a:lumMod val="8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1577B87-8C17-8896-7648-151FE6ED5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842" y="2285998"/>
            <a:ext cx="5757116" cy="3838077"/>
          </a:xfrm>
          <a:prstGeom prst="rect">
            <a:avLst/>
          </a:prstGeom>
        </p:spPr>
      </p:pic>
      <p:sp>
        <p:nvSpPr>
          <p:cNvPr id="4" name="角丸四角形 3">
            <a:extLst>
              <a:ext uri="{FF2B5EF4-FFF2-40B4-BE49-F238E27FC236}">
                <a16:creationId xmlns:a16="http://schemas.microsoft.com/office/drawing/2014/main" id="{185CDFFD-0AA3-3C1B-8726-4767164D50C6}"/>
              </a:ext>
            </a:extLst>
          </p:cNvPr>
          <p:cNvSpPr/>
          <p:nvPr/>
        </p:nvSpPr>
        <p:spPr>
          <a:xfrm>
            <a:off x="3360000" y="5534528"/>
            <a:ext cx="5472000" cy="117909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Fuel alerts prevent misses.</a:t>
            </a:r>
          </a:p>
          <a:p>
            <a:pPr algn="ctr"/>
            <a:r>
              <a:rPr lang="ja-JP" altLang="en-US" sz="200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補給通知で補給忘れを防ぐ</a:t>
            </a:r>
            <a:endParaRPr kumimoji="1" lang="ja-JP" altLang="en-US" sz="2000">
              <a:solidFill>
                <a:schemeClr val="bg1">
                  <a:lumMod val="8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8" name="グラフィックス 17" descr="矢印: 直線 単色塗りつぶし">
            <a:extLst>
              <a:ext uri="{FF2B5EF4-FFF2-40B4-BE49-F238E27FC236}">
                <a16:creationId xmlns:a16="http://schemas.microsoft.com/office/drawing/2014/main" id="{479141D1-0903-145E-B221-35527CF57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386512">
            <a:off x="5397724" y="2144079"/>
            <a:ext cx="1230976" cy="123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5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FD36-F4D0-BF62-E72E-248FF9A9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BF48990-2D6E-7C7F-6B55-836E6B93F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380" y="0"/>
            <a:ext cx="5743241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D8BD7C1-31D9-D434-465D-F580B95A738D}"/>
              </a:ext>
            </a:extLst>
          </p:cNvPr>
          <p:cNvSpPr/>
          <p:nvPr/>
        </p:nvSpPr>
        <p:spPr>
          <a:xfrm>
            <a:off x="3224378" y="28076"/>
            <a:ext cx="5743241" cy="6858000"/>
          </a:xfrm>
          <a:prstGeom prst="rect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81243FA4-45C9-D032-E742-0983EF5F1561}"/>
              </a:ext>
            </a:extLst>
          </p:cNvPr>
          <p:cNvSpPr/>
          <p:nvPr/>
        </p:nvSpPr>
        <p:spPr>
          <a:xfrm>
            <a:off x="3360000" y="192507"/>
            <a:ext cx="5472000" cy="117909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Start with only two settings.</a:t>
            </a:r>
            <a:endParaRPr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-JP" altLang="en-US" sz="200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項目の設定だけで開始可能</a:t>
            </a:r>
            <a:endParaRPr kumimoji="1" lang="ja-JP" altLang="en-US" sz="2000">
              <a:solidFill>
                <a:schemeClr val="bg1">
                  <a:lumMod val="8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5472BD94-AC01-515D-8FC4-3B69DA1BEF01}"/>
              </a:ext>
            </a:extLst>
          </p:cNvPr>
          <p:cNvSpPr/>
          <p:nvPr/>
        </p:nvSpPr>
        <p:spPr>
          <a:xfrm>
            <a:off x="3360000" y="5534528"/>
            <a:ext cx="5472000" cy="117909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ja-JP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Race Distance / Target Time</a:t>
            </a:r>
            <a:endParaRPr lang="en-US" altLang="ja-JP" sz="2000" b="1" dirty="0">
              <a:solidFill>
                <a:schemeClr val="bg1">
                  <a:lumMod val="8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lang="ja-JP" altLang="en-US" sz="200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距離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200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と</a:t>
            </a:r>
            <a:r>
              <a:rPr lang="en-US" altLang="ja-JP" sz="2000" dirty="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2000">
                <a:solidFill>
                  <a:schemeClr val="bg1">
                    <a:lumMod val="8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目標タイム</a:t>
            </a:r>
            <a:endParaRPr kumimoji="1" lang="ja-JP" altLang="en-US" sz="2000">
              <a:solidFill>
                <a:schemeClr val="bg1">
                  <a:lumMod val="8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3FD0DEC-E43F-D5DC-6483-D2F7DA455F52}"/>
              </a:ext>
            </a:extLst>
          </p:cNvPr>
          <p:cNvGrpSpPr/>
          <p:nvPr/>
        </p:nvGrpSpPr>
        <p:grpSpPr>
          <a:xfrm>
            <a:off x="4285324" y="1335505"/>
            <a:ext cx="3621349" cy="4054645"/>
            <a:chOff x="4133202" y="1335505"/>
            <a:chExt cx="3621349" cy="4054645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0DDC2EE-8627-6A28-0486-EDC5BE7AB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3202" y="1720516"/>
              <a:ext cx="3621349" cy="3669634"/>
            </a:xfrm>
            <a:prstGeom prst="rect">
              <a:avLst/>
            </a:prstGeom>
          </p:spPr>
        </p:pic>
        <p:pic>
          <p:nvPicPr>
            <p:cNvPr id="6" name="グラフィックス 5" descr="矢印: 直線 単色塗りつぶし">
              <a:extLst>
                <a:ext uri="{FF2B5EF4-FFF2-40B4-BE49-F238E27FC236}">
                  <a16:creationId xmlns:a16="http://schemas.microsoft.com/office/drawing/2014/main" id="{26FB3B3C-E371-EF96-2D66-7C5160FD36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8352551" flipH="1">
              <a:off x="6179637" y="1335505"/>
              <a:ext cx="914400" cy="914400"/>
            </a:xfrm>
            <a:prstGeom prst="rect">
              <a:avLst/>
            </a:prstGeom>
          </p:spPr>
        </p:pic>
        <p:pic>
          <p:nvPicPr>
            <p:cNvPr id="8" name="グラフィックス 7" descr="矢印: 直線 単色塗りつぶし">
              <a:extLst>
                <a:ext uri="{FF2B5EF4-FFF2-40B4-BE49-F238E27FC236}">
                  <a16:creationId xmlns:a16="http://schemas.microsoft.com/office/drawing/2014/main" id="{CD9BAFD3-0E92-3834-744D-DBCF329A43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8352551" flipH="1">
              <a:off x="6179637" y="2513457"/>
              <a:ext cx="914400" cy="914400"/>
            </a:xfrm>
            <a:prstGeom prst="rect">
              <a:avLst/>
            </a:prstGeom>
          </p:spPr>
        </p:pic>
      </p:grpSp>
      <p:pic>
        <p:nvPicPr>
          <p:cNvPr id="9" name="グラフィックス 8" descr="矢印: 直線 単色塗りつぶし">
            <a:extLst>
              <a:ext uri="{FF2B5EF4-FFF2-40B4-BE49-F238E27FC236}">
                <a16:creationId xmlns:a16="http://schemas.microsoft.com/office/drawing/2014/main" id="{4C3E23B3-F06E-FA11-4962-FB539F8E2A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352551" flipH="1">
            <a:off x="6179637" y="36914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54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727B2-4A36-D60E-D7CE-FE0EC183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49947CE-035D-E721-5A54-DF8B98325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9" y="0"/>
            <a:ext cx="5743241" cy="68580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8BC6A0B-D899-DE20-2A68-02621C5D94F1}"/>
              </a:ext>
            </a:extLst>
          </p:cNvPr>
          <p:cNvSpPr/>
          <p:nvPr/>
        </p:nvSpPr>
        <p:spPr>
          <a:xfrm>
            <a:off x="1570008" y="2924356"/>
            <a:ext cx="1302588" cy="319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ja-JP" sz="1200" dirty="0"/>
              <a:t>cap 172</a:t>
            </a:r>
            <a:endParaRPr kumimoji="1" lang="ja-JP" altLang="en-US" sz="1200"/>
          </a:p>
        </p:txBody>
      </p:sp>
      <p:pic>
        <p:nvPicPr>
          <p:cNvPr id="4" name="グラフィックス 3" descr="実行 単色塗りつぶし">
            <a:extLst>
              <a:ext uri="{FF2B5EF4-FFF2-40B4-BE49-F238E27FC236}">
                <a16:creationId xmlns:a16="http://schemas.microsoft.com/office/drawing/2014/main" id="{A70E4EF3-A088-EBA8-77BD-F195CE12C0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4406" y="2536166"/>
            <a:ext cx="388190" cy="38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49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5665</TotalTime>
  <Words>106</Words>
  <Application>Microsoft Macintosh PowerPoint</Application>
  <PresentationFormat>ワイド画面</PresentationFormat>
  <Paragraphs>17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克朗 永林</dc:creator>
  <cp:lastModifiedBy>克朗 永林</cp:lastModifiedBy>
  <cp:revision>3</cp:revision>
  <dcterms:created xsi:type="dcterms:W3CDTF">2026-03-13T03:58:52Z</dcterms:created>
  <dcterms:modified xsi:type="dcterms:W3CDTF">2026-03-17T02:24:19Z</dcterms:modified>
</cp:coreProperties>
</file>